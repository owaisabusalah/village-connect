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73736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VillageConnect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0" y="27432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Local Communication System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0" y="32918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Rural Communities Without Internet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66360" y="3931920"/>
            <a:ext cx="18288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20624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45720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Owais AbuSalah  •  Abdulah Dwekat  •  Anas Habash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0" y="521208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8B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0" y="55321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Jihad Hamamra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0" y="64008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Project  •  Academic Year 2025-2026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communities face a digital divide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697480" cy="3840480"/>
          </a:xfrm>
          <a:prstGeom prst="rect">
            <a:avLst/>
          </a:prstGeom>
          <a:solidFill>
            <a:srgbClr val="E8F1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103120"/>
            <a:ext cx="2697480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256032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7203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Internet Access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40233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areas lack reliable and affordable connectivity to the outside world.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2103120"/>
            <a:ext cx="2697480" cy="3840480"/>
          </a:xfrm>
          <a:prstGeom prst="rect">
            <a:avLst/>
          </a:prstGeom>
          <a:solidFill>
            <a:srgbClr val="E8F1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2103120"/>
            <a:ext cx="2697480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Shape 9"/>
          <p:cNvSpPr/>
          <p:nvPr/>
        </p:nvSpPr>
        <p:spPr>
          <a:xfrm>
            <a:off x="4343400" y="256032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27203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Expensive Calls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520440" y="40233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phone services are costly and often unavailable in villages.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2103120"/>
            <a:ext cx="2697480" cy="3840480"/>
          </a:xfrm>
          <a:prstGeom prst="rect">
            <a:avLst/>
          </a:prstGeom>
          <a:solidFill>
            <a:srgbClr val="E8F1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2103120"/>
            <a:ext cx="2697480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Shape 14"/>
          <p:cNvSpPr/>
          <p:nvPr/>
        </p:nvSpPr>
        <p:spPr>
          <a:xfrm>
            <a:off x="7223760" y="256032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0" y="27203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 Communication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400800" y="40233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system to share announcements or emergency alerts.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98280" y="2103120"/>
            <a:ext cx="2697480" cy="3840480"/>
          </a:xfrm>
          <a:prstGeom prst="rect">
            <a:avLst/>
          </a:prstGeom>
          <a:solidFill>
            <a:srgbClr val="E8F1F8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98280" y="2103120"/>
            <a:ext cx="2697480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Shape 19"/>
          <p:cNvSpPr/>
          <p:nvPr/>
        </p:nvSpPr>
        <p:spPr>
          <a:xfrm>
            <a:off x="10104120" y="2560320"/>
            <a:ext cx="685800" cy="6858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4140" y="272034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8116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Limited Resources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9281160" y="40233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distributing educational materials to students and teachers.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Affecting over 3 billion people worldwide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self-contained network for the village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029200" cy="4572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03120"/>
            <a:ext cx="1097280" cy="109728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840480" y="5486400"/>
            <a:ext cx="1371600" cy="137160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74320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389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VillageConnect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network. Global features.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required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60720" y="2011680"/>
            <a:ext cx="5943600" cy="141732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12" name="Shape 9"/>
          <p:cNvSpPr/>
          <p:nvPr/>
        </p:nvSpPr>
        <p:spPr>
          <a:xfrm>
            <a:off x="5760720" y="2011680"/>
            <a:ext cx="91440" cy="14173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377440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4944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Calls (VoIP)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949440" y="2697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voice calls between all villagers using Asterisk PBX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760720" y="3611880"/>
            <a:ext cx="5943600" cy="141732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17" name="Shape 13"/>
          <p:cNvSpPr/>
          <p:nvPr/>
        </p:nvSpPr>
        <p:spPr>
          <a:xfrm>
            <a:off x="5760720" y="3611880"/>
            <a:ext cx="91440" cy="14173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977640"/>
            <a:ext cx="685800" cy="6858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4944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Portal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6949440" y="4297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announcements, directory, and news accessible via browser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760720" y="5212080"/>
            <a:ext cx="5943600" cy="141732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22" name="Shape 17"/>
          <p:cNvSpPr/>
          <p:nvPr/>
        </p:nvSpPr>
        <p:spPr>
          <a:xfrm>
            <a:off x="5760720" y="5212080"/>
            <a:ext cx="91440" cy="14173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5577840"/>
            <a:ext cx="685800" cy="6858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49440" y="5440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Sharing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6949440" y="5897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educational resources, books, and videos for everyone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Architecture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hierarchical design for reliability and scalability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4754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1965960"/>
            <a:ext cx="1371600" cy="822960"/>
          </a:xfrm>
          <a:prstGeom prst="rect">
            <a:avLst/>
          </a:prstGeom>
          <a:solidFill>
            <a:srgbClr val="9B59B6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9496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Core-Router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9496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D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c3745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80760" y="2788920"/>
            <a:ext cx="0" cy="640080"/>
          </a:xfrm>
          <a:prstGeom prst="line">
            <a:avLst/>
          </a:prstGeom>
          <a:noFill/>
          <a:ln w="25400">
            <a:solidFill>
              <a:srgbClr val="9B59B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394960" y="3429000"/>
            <a:ext cx="1371600" cy="73152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9496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Core-Switch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VLAN Trunk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589520" y="3429000"/>
            <a:ext cx="1371600" cy="73152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8952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Village-Server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8952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D6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Ubuntu 24.04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3794760"/>
            <a:ext cx="822960" cy="0"/>
          </a:xfrm>
          <a:prstGeom prst="line">
            <a:avLst/>
          </a:prstGeom>
          <a:noFill/>
          <a:ln w="25400">
            <a:solidFill>
              <a:srgbClr val="16A0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4160520"/>
            <a:ext cx="0" cy="320040"/>
          </a:xfrm>
          <a:prstGeom prst="line">
            <a:avLst/>
          </a:prstGeom>
          <a:noFill/>
          <a:ln w="25400">
            <a:solidFill>
              <a:srgbClr val="16A0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1760" y="4480560"/>
            <a:ext cx="6858000" cy="0"/>
          </a:xfrm>
          <a:prstGeom prst="line">
            <a:avLst/>
          </a:prstGeom>
          <a:noFill/>
          <a:ln w="25400">
            <a:solidFill>
              <a:srgbClr val="16A0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51760" y="4480560"/>
            <a:ext cx="0" cy="274320"/>
          </a:xfrm>
          <a:prstGeom prst="line">
            <a:avLst/>
          </a:prstGeom>
          <a:noFill/>
          <a:ln w="25400">
            <a:solidFill>
              <a:srgbClr val="3498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4754880"/>
            <a:ext cx="1371600" cy="685800"/>
          </a:xfrm>
          <a:prstGeom prst="rect">
            <a:avLst/>
          </a:prstGeom>
          <a:solidFill>
            <a:srgbClr val="3498DB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965960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Switch-Admin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65960" y="5102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VLAN 10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51760" y="5440680"/>
            <a:ext cx="0" cy="274320"/>
          </a:xfrm>
          <a:prstGeom prst="line">
            <a:avLst/>
          </a:prstGeom>
          <a:noFill/>
          <a:ln w="19050">
            <a:solidFill>
              <a:srgbClr val="3498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40280" y="57150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3498DB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5788152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057400" y="6016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192.168.10.10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309360" y="4480560"/>
            <a:ext cx="0" cy="27432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23560" y="4754880"/>
            <a:ext cx="1371600" cy="68580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623560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Switch-Public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623560" y="5102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VLAN 20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309360" y="5440680"/>
            <a:ext cx="0" cy="274320"/>
          </a:xfrm>
          <a:prstGeom prst="line">
            <a:avLst/>
          </a:prstGeom>
          <a:noFill/>
          <a:ln w="19050">
            <a:solidFill>
              <a:srgbClr val="27AE6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897880" y="57150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5788152"/>
            <a:ext cx="201168" cy="20116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715000" y="6016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192.168.20.10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9966960" y="4480560"/>
            <a:ext cx="0" cy="27432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281160" y="4754880"/>
            <a:ext cx="1371600" cy="685800"/>
          </a:xfrm>
          <a:prstGeom prst="rect">
            <a:avLst/>
          </a:prstGeom>
          <a:solidFill>
            <a:srgbClr val="E67E22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9281160" y="4828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Switch-Voice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9281160" y="5102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VLAN 30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9966960" y="5440680"/>
            <a:ext cx="0" cy="27432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9555480" y="5715000"/>
            <a:ext cx="8229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5788152"/>
            <a:ext cx="201168" cy="20116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9372600" y="6016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192.168.30.10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45720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457200" y="3566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457200" y="4937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VLAN Segmentation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separation of traffic for security and performance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974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2697480" cy="11887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202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192.168.10.0/24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206240"/>
            <a:ext cx="1783080" cy="0"/>
          </a:xfrm>
          <a:prstGeom prst="line">
            <a:avLst/>
          </a:prstGeom>
          <a:noFill/>
          <a:ln w="12700">
            <a:solidFill>
              <a:srgbClr val="E0E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434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administration and council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532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users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1828800"/>
            <a:ext cx="26974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828800"/>
            <a:ext cx="2697480" cy="1188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9202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3337560" y="2697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3200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29000" y="3749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192.168.20.0/24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94760" y="4206240"/>
            <a:ext cx="1783080" cy="0"/>
          </a:xfrm>
          <a:prstGeom prst="line">
            <a:avLst/>
          </a:prstGeom>
          <a:noFill/>
          <a:ln w="12700">
            <a:solidFill>
              <a:srgbClr val="E0E7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4434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community members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0440" y="5532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 users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1828800"/>
            <a:ext cx="26974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828800"/>
            <a:ext cx="2697480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9202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6000" dirty="0"/>
          </a:p>
        </p:txBody>
      </p:sp>
      <p:sp>
        <p:nvSpPr>
          <p:cNvPr id="25" name="Text 23"/>
          <p:cNvSpPr/>
          <p:nvPr/>
        </p:nvSpPr>
        <p:spPr>
          <a:xfrm>
            <a:off x="6217920" y="2697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3200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09360" y="3749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192.168.30.0/24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4206240"/>
            <a:ext cx="1783080" cy="0"/>
          </a:xfrm>
          <a:prstGeom prst="line">
            <a:avLst/>
          </a:prstGeom>
          <a:noFill/>
          <a:ln w="12700">
            <a:solidFill>
              <a:srgbClr val="E0E7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434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phones with QoS priority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5532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phones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98280" y="1828800"/>
            <a:ext cx="26974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98280" y="1828800"/>
            <a:ext cx="2697480" cy="1188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3" name="Text 31"/>
          <p:cNvSpPr/>
          <p:nvPr/>
        </p:nvSpPr>
        <p:spPr>
          <a:xfrm>
            <a:off x="9098280" y="192024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6000" dirty="0"/>
          </a:p>
        </p:txBody>
      </p:sp>
      <p:sp>
        <p:nvSpPr>
          <p:cNvPr id="34" name="Text 32"/>
          <p:cNvSpPr/>
          <p:nvPr/>
        </p:nvSpPr>
        <p:spPr>
          <a:xfrm>
            <a:off x="9098280" y="2697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098280" y="32004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Servers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189720" y="3749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192.168.40.0/24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555480" y="4206240"/>
            <a:ext cx="1783080" cy="0"/>
          </a:xfrm>
          <a:prstGeom prst="line">
            <a:avLst/>
          </a:prstGeom>
          <a:noFill/>
          <a:ln w="12700">
            <a:solidFill>
              <a:srgbClr val="E0E7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81160" y="44348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 infrastructure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281160" y="5532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VLANs share the same physical network but are logically isolated through 802.1Q tagging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OSPF Dynamic Routing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Shortest Path First — self-adapting inter-VLAN routing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029200" cy="45720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22860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429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Routing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39776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D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automatically calculates the best paths between all VLANs, adapting instantly to any topology changes.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5303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 0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57200" y="5760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B8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AREA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116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3796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Convergence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37960" y="23774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converge in under 30 seconds after any topology change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1546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37960" y="3108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Loop-Free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537960" y="35204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Shortest Path First algorithm prevents routing loops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29768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3796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Scalable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537960" y="46634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adding new VLANs and subnets without reconfiguration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544068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37960" y="5394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Standard</a:t>
            </a:r>
            <a:endParaRPr lang="en-US" sz="1800" dirty="0"/>
          </a:p>
        </p:txBody>
      </p:sp>
      <p:sp>
        <p:nvSpPr>
          <p:cNvPr id="21" name="Text 14"/>
          <p:cNvSpPr/>
          <p:nvPr/>
        </p:nvSpPr>
        <p:spPr>
          <a:xfrm>
            <a:off x="6537960" y="58064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enterprise networks worldwide (RFC 2328)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 Services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services running on a single Ubuntu Server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118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3611880" cy="1554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1897380" y="20574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221284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VoIP Server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3566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Asterisk PBX 20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977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5060 (SIP)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44805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extensions configured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calls (911)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test (*43)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(100)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51960" y="1828800"/>
            <a:ext cx="36118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51960" y="1828800"/>
            <a:ext cx="3611880" cy="15544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Shape 11"/>
          <p:cNvSpPr/>
          <p:nvPr/>
        </p:nvSpPr>
        <p:spPr>
          <a:xfrm>
            <a:off x="5692140" y="20574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212848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196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Portal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251960" y="3566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Web Server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251960" y="3977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80 (HTTP)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617720" y="44805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Arabic/RTL pages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announcements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phone directory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046720" y="1828800"/>
            <a:ext cx="36118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46720" y="1828800"/>
            <a:ext cx="3611880" cy="1554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Shape 18"/>
          <p:cNvSpPr/>
          <p:nvPr/>
        </p:nvSpPr>
        <p:spPr>
          <a:xfrm>
            <a:off x="9486900" y="20574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212848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04672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Sharing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8046720" y="3566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SMB/CIFS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046720" y="3977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Ports 139, 445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412480" y="448056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shared library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folder for villagers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Admin-only secure area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content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&amp; Tools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industry-standard, open-source technologies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97480" cy="210312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73152" cy="21031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3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7160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GNS3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simulation platform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1828800"/>
            <a:ext cx="2697480" cy="210312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11" name="Shape 8"/>
          <p:cNvSpPr/>
          <p:nvPr/>
        </p:nvSpPr>
        <p:spPr>
          <a:xfrm>
            <a:off x="3337560" y="1828800"/>
            <a:ext cx="73152" cy="21031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1031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5196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25196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Cisco IOS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52044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c3745 Router &amp; IOSvL2 Switches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1828800"/>
            <a:ext cx="2697480" cy="210312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17" name="Shape 13"/>
          <p:cNvSpPr/>
          <p:nvPr/>
        </p:nvSpPr>
        <p:spPr>
          <a:xfrm>
            <a:off x="6217920" y="1828800"/>
            <a:ext cx="73152" cy="21031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3232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13232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VMware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40080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for server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98280" y="1828800"/>
            <a:ext cx="2697480" cy="210312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23" name="Shape 18"/>
          <p:cNvSpPr/>
          <p:nvPr/>
        </p:nvSpPr>
        <p:spPr>
          <a:xfrm>
            <a:off x="9098280" y="1828800"/>
            <a:ext cx="73152" cy="21031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10312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01268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01268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Ubuntu 24.04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928116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OS for the server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57200" y="4069080"/>
            <a:ext cx="2697480" cy="210312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29" name="Shape 23"/>
          <p:cNvSpPr/>
          <p:nvPr/>
        </p:nvSpPr>
        <p:spPr>
          <a:xfrm>
            <a:off x="457200" y="4069080"/>
            <a:ext cx="73152" cy="21031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343400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71600" y="4343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371600" y="4572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Asterisk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640080" y="5212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VoIP PBX system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3337560" y="4069080"/>
            <a:ext cx="2697480" cy="210312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35" name="Shape 28"/>
          <p:cNvSpPr/>
          <p:nvPr/>
        </p:nvSpPr>
        <p:spPr>
          <a:xfrm>
            <a:off x="3337560" y="4069080"/>
            <a:ext cx="73152" cy="21031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4343400"/>
            <a:ext cx="502920" cy="5029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251960" y="4343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4251960" y="4572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 HTTP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3520440" y="5212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for community portal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6217920" y="4069080"/>
            <a:ext cx="2697480" cy="210312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41" name="Shape 33"/>
          <p:cNvSpPr/>
          <p:nvPr/>
        </p:nvSpPr>
        <p:spPr>
          <a:xfrm>
            <a:off x="6217920" y="4069080"/>
            <a:ext cx="73152" cy="21031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343400"/>
            <a:ext cx="502920" cy="5029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7132320" y="4343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7132320" y="4572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Samba</a:t>
            </a:r>
            <a:endParaRPr lang="en-US" sz="1700" dirty="0"/>
          </a:p>
        </p:txBody>
      </p:sp>
      <p:sp>
        <p:nvSpPr>
          <p:cNvPr id="45" name="Text 36"/>
          <p:cNvSpPr/>
          <p:nvPr/>
        </p:nvSpPr>
        <p:spPr>
          <a:xfrm>
            <a:off x="6400800" y="5212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SMB/CIFS file sharing server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9098280" y="4069080"/>
            <a:ext cx="2697480" cy="210312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47" name="Shape 38"/>
          <p:cNvSpPr/>
          <p:nvPr/>
        </p:nvSpPr>
        <p:spPr>
          <a:xfrm>
            <a:off x="9098280" y="4069080"/>
            <a:ext cx="73152" cy="210312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0" y="4343400"/>
            <a:ext cx="502920" cy="50292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0012680" y="4343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</p:txBody>
      </p:sp>
      <p:sp>
        <p:nvSpPr>
          <p:cNvPr id="50" name="Text 40"/>
          <p:cNvSpPr/>
          <p:nvPr/>
        </p:nvSpPr>
        <p:spPr>
          <a:xfrm>
            <a:off x="10012680" y="4572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Twinkle</a:t>
            </a:r>
            <a:endParaRPr lang="en-US" sz="1700" dirty="0"/>
          </a:p>
        </p:txBody>
      </p:sp>
      <p:sp>
        <p:nvSpPr>
          <p:cNvPr id="51" name="Text 41"/>
          <p:cNvSpPr/>
          <p:nvPr/>
        </p:nvSpPr>
        <p:spPr>
          <a:xfrm>
            <a:off x="9281160" y="5212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softphone for testing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network features verified successfully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269748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8288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828800"/>
            <a:ext cx="269748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2011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&lt;30s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37560" y="2697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Convergence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828800"/>
            <a:ext cx="269748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011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17920" y="2697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VLANs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98280" y="182880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1828800"/>
            <a:ext cx="269748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2011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098280" y="2697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 Extensions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Results Summary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14800"/>
          <a:ext cx="1124712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93192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Ping PC-Admin to Gateway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978"/>
                          </a:solidFill>
                        </a:rPr>
                        <a:t>Reply received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Inter-VLAN routing (all VLANs)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978"/>
                          </a:solidFill>
                        </a:rPr>
                        <a:t>OSPF routes correctly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VoIP echo test (*43)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978"/>
                          </a:solidFill>
                        </a:rPr>
                        <a:t>Voice echoed back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Web portal (Arabic RTL)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978"/>
                          </a:solidFill>
                        </a:rPr>
                        <a:t>5 pages load correctly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Samba file share access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978"/>
                          </a:solidFill>
                        </a:rPr>
                        <a:t>Shares list and readable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SIP registration (Twinkle)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978"/>
                          </a:solidFill>
                        </a:rPr>
                        <a:t>Registered with Asterisk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PASS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Solutions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encountered during development and how we solved them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56692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920240"/>
            <a:ext cx="109728" cy="21945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VMware-GNS3 Integration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Segments in VMware did not appear in GNS3 Cloud interfaces for bridging.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657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VMnet2 in Virtual Network Editor (Host-only), linked Ubuntu VM to it, then selected VMnet2 in GNS3 Cloud configuration.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56692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920240"/>
            <a:ext cx="109728" cy="21945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Shape 13"/>
          <p:cNvSpPr/>
          <p:nvPr/>
        </p:nvSpPr>
        <p:spPr>
          <a:xfrm>
            <a:off x="6629400" y="214884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0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 Path Filtering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2788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9400" y="2971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dropped packets coming from other VLANs, causing timeouts despite correct routing.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3474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29400" y="3657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rp_filter permanently in /etc/sysctl.conf, allowing Ubuntu to accept packets from any source subnet.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56692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251960"/>
            <a:ext cx="109728" cy="21945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448056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63040" y="4526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SIP Port Conflict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7240" y="5120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5303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Twinkle softphone could not bind to port 5060 because Asterisk was already using it.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5806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5989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Twinkle to use alternative port 5062 while Asterisk continued listening on standard port 5060.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4251960"/>
            <a:ext cx="56692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4251960"/>
            <a:ext cx="109728" cy="21945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Shape 31"/>
          <p:cNvSpPr/>
          <p:nvPr/>
        </p:nvSpPr>
        <p:spPr>
          <a:xfrm>
            <a:off x="6629400" y="448056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662940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315200" y="4526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Asterisk Authentication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629400" y="5120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29400" y="5303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Linphone failed to register with 401 Unauthorized, not sending password credentials properly.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29400" y="5806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29400" y="5989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Twinkle softphone which correctly handled SIP authentication and registered successfully.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Demonstration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see in our demo today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965960"/>
            <a:ext cx="36576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Topology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 of the complete network running in GNS3 with all devices operational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965960"/>
            <a:ext cx="36576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Inter-VLAN Ping Tests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OSPF routing between all four VLANs with successful ping replies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965960"/>
            <a:ext cx="3657600" cy="45720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2606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Arabic Web Portal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3108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village website in Firefox showing all 5 pages with Arabic content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297680"/>
            <a:ext cx="365760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343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937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Sharing (Samba)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5440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shared library and list educational content in the network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429768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0" y="4297680"/>
            <a:ext cx="36576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4343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0" y="4937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VoIP Call (*43)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0" y="5440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 echo test call showing Asterisk is receiving and returning audio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429768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4297680"/>
            <a:ext cx="365760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343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12480" y="4937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Multi-Extension Calls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412480" y="5440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Admin (1000) and Mayor (1001) both registered and able to call each other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 and expansions for VillageConnect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657600" cy="219456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224028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2468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WiFi Access Points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coverage for smartphones and tablets across the village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657600" cy="219456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0" y="224028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468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 Conferencing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0" y="3657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Jitsi Meet for online classes and remote medical consultations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657600" cy="219456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15" name="Shape 11"/>
          <p:cNvSpPr/>
          <p:nvPr/>
        </p:nvSpPr>
        <p:spPr>
          <a:xfrm>
            <a:off x="9509760" y="224028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2468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Content Cache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12480" y="3657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Pre-downloaded Wikipedia, Khan Academy for educational access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4297680"/>
            <a:ext cx="3657600" cy="219456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20" name="Shape 15"/>
          <p:cNvSpPr/>
          <p:nvPr/>
        </p:nvSpPr>
        <p:spPr>
          <a:xfrm>
            <a:off x="1828800" y="457200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48006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" y="5577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 Networking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1520" y="5989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coverage to remote areas using BATMAN-adv protocol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4297680"/>
            <a:ext cx="3657600" cy="219456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25" name="Shape 19"/>
          <p:cNvSpPr/>
          <p:nvPr/>
        </p:nvSpPr>
        <p:spPr>
          <a:xfrm>
            <a:off x="5669280" y="457200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48006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5577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 Power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72000" y="5989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Self-sufficient network cabinets for areas with unstable electricity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4297680"/>
            <a:ext cx="3657600" cy="2194560"/>
          </a:xfrm>
          <a:prstGeom prst="rect">
            <a:avLst/>
          </a:prstGeom>
          <a:solidFill>
            <a:srgbClr val="E8F1F8"/>
          </a:solidFill>
          <a:ln/>
        </p:spPr>
      </p:sp>
      <p:sp>
        <p:nvSpPr>
          <p:cNvPr id="30" name="Shape 23"/>
          <p:cNvSpPr/>
          <p:nvPr/>
        </p:nvSpPr>
        <p:spPr>
          <a:xfrm>
            <a:off x="9509760" y="457200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480060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5577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Internet Backup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412480" y="5989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satellite gateway for periodic external connectivity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Team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students behind VillageConnect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5204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11680"/>
            <a:ext cx="3520440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2651760"/>
            <a:ext cx="1143000" cy="1143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65A8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88036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069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Owais AbuSalah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920240" y="4617720"/>
            <a:ext cx="11430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800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 &amp; Configuration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26280" y="2011680"/>
            <a:ext cx="35204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2011680"/>
            <a:ext cx="3520440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0" y="2651760"/>
            <a:ext cx="1143000" cy="1143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880360"/>
            <a:ext cx="685800" cy="685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26280" y="4069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Abdulah Dwekat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715000" y="4617720"/>
            <a:ext cx="11430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09160" y="4800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&amp; Services Setup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321040" y="2011680"/>
            <a:ext cx="35204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21040" y="2011680"/>
            <a:ext cx="3520440" cy="1188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Shape 16"/>
          <p:cNvSpPr/>
          <p:nvPr/>
        </p:nvSpPr>
        <p:spPr>
          <a:xfrm>
            <a:off x="9509760" y="2651760"/>
            <a:ext cx="1143000" cy="1143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5A62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2880360"/>
            <a:ext cx="685800" cy="6858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1040" y="40690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Anas Habash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9509760" y="4617720"/>
            <a:ext cx="11430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503920" y="4800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Documentation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3337560" y="5760720"/>
            <a:ext cx="54864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6" name="Text 21"/>
          <p:cNvSpPr/>
          <p:nvPr/>
        </p:nvSpPr>
        <p:spPr>
          <a:xfrm>
            <a:off x="333756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3337560" y="6126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Jihad Hamamra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182880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1887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10312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0" y="32918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166360" y="4023360"/>
            <a:ext cx="18288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3891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VillageConnect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0" y="48920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8C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communities where internet cannot reach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0" y="566928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Owais AbuSalah  •  Abdulah Dwekat  •  Anas Habash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0" y="59893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Jihad Hamamra  •  Academic Year 2025-2026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VillageConnect - Network Design Project</dc:title>
  <dc:subject>PptxGenJS Presentation</dc:subject>
  <dc:creator>Owais AbuSalah, Abdulah Dwekat, Anas Habash</dc:creator>
  <cp:lastModifiedBy>Owais AbuSalah, Abdulah Dwekat, Anas Habash</cp:lastModifiedBy>
  <cp:revision>1</cp:revision>
  <dcterms:created xsi:type="dcterms:W3CDTF">2026-04-17T19:17:04Z</dcterms:created>
  <dcterms:modified xsi:type="dcterms:W3CDTF">2026-04-17T19:17:04Z</dcterms:modified>
</cp:coreProperties>
</file>